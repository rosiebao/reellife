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7" r:id="rId1"/>
  </p:sldMasterIdLst>
  <p:notesMasterIdLst>
    <p:notesMasterId r:id="rId12"/>
  </p:notesMasterIdLst>
  <p:sldIdLst>
    <p:sldId id="256" r:id="rId2"/>
    <p:sldId id="257" r:id="rId3"/>
    <p:sldId id="265" r:id="rId4"/>
    <p:sldId id="258" r:id="rId5"/>
    <p:sldId id="259" r:id="rId6"/>
    <p:sldId id="260" r:id="rId7"/>
    <p:sldId id="263" r:id="rId8"/>
    <p:sldId id="266" r:id="rId9"/>
    <p:sldId id="261"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o, Rosie" initials="BR" lastIdx="1" clrIdx="0">
    <p:extLst>
      <p:ext uri="{19B8F6BF-5375-455C-9EA6-DF929625EA0E}">
        <p15:presenceInfo xmlns:p15="http://schemas.microsoft.com/office/powerpoint/2012/main" userId="S::BaoRos28@issaquah.wednet.edu::ce4d0260-f886-4dd9-80d3-6d2025b11ef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E73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8F2EF3-556D-4850-A37B-5FBCABCF6D2E}" type="datetimeFigureOut">
              <a:rPr lang="en-US" smtClean="0"/>
              <a:t>5/29/26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749E12-8408-446E-83BD-D7DB468F9868}" type="slidenum">
              <a:rPr lang="en-US" smtClean="0"/>
              <a:t>‹#›</a:t>
            </a:fld>
            <a:endParaRPr lang="en-US"/>
          </a:p>
        </p:txBody>
      </p:sp>
    </p:spTree>
    <p:extLst>
      <p:ext uri="{BB962C8B-B14F-4D97-AF65-F5344CB8AC3E}">
        <p14:creationId xmlns:p14="http://schemas.microsoft.com/office/powerpoint/2010/main" val="2765875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749E12-8408-446E-83BD-D7DB468F9868}" type="slidenum">
              <a:rPr lang="en-US" smtClean="0"/>
              <a:t>9</a:t>
            </a:fld>
            <a:endParaRPr lang="en-US"/>
          </a:p>
        </p:txBody>
      </p:sp>
    </p:spTree>
    <p:extLst>
      <p:ext uri="{BB962C8B-B14F-4D97-AF65-F5344CB8AC3E}">
        <p14:creationId xmlns:p14="http://schemas.microsoft.com/office/powerpoint/2010/main" val="2892271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70CAAC6-D332-4623-987D-67F780320385}"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673302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0CAAC6-D332-4623-987D-67F780320385}"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370651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0CAAC6-D332-4623-987D-67F780320385}"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1505065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0CAAC6-D332-4623-987D-67F780320385}"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2219799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0CAAC6-D332-4623-987D-67F780320385}" type="datetimeFigureOut">
              <a:rPr lang="en-US" smtClean="0"/>
              <a:t>5/29/26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4197000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0CAAC6-D332-4623-987D-67F780320385}" type="datetimeFigureOut">
              <a:rPr lang="en-US" smtClean="0"/>
              <a:t>5/29/26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222845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CAAC6-D332-4623-987D-67F780320385}" type="datetimeFigureOut">
              <a:rPr lang="en-US" smtClean="0"/>
              <a:t>5/29/26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2584152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0CAAC6-D332-4623-987D-67F780320385}"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3056363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0CAAC6-D332-4623-987D-67F780320385}"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3550358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0CAAC6-D332-4623-987D-67F780320385}"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1620812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0CAAC6-D332-4623-987D-67F780320385}"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DE53010-30CC-4218-B439-1D888A1189F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84592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70CAAC6-D332-4623-987D-67F780320385}"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3100977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70CAAC6-D332-4623-987D-67F780320385}"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E53010-30CC-4218-B439-1D888A1189F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56177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70CAAC6-D332-4623-987D-67F780320385}"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3083684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0CAAC6-D332-4623-987D-67F780320385}"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2854148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0CAAC6-D332-4623-987D-67F780320385}"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DE53010-30CC-4218-B439-1D888A1189FA}" type="slidenum">
              <a:rPr lang="en-US" smtClean="0"/>
              <a:t>‹#›</a:t>
            </a:fld>
            <a:endParaRPr lang="en-US"/>
          </a:p>
        </p:txBody>
      </p:sp>
    </p:spTree>
    <p:extLst>
      <p:ext uri="{BB962C8B-B14F-4D97-AF65-F5344CB8AC3E}">
        <p14:creationId xmlns:p14="http://schemas.microsoft.com/office/powerpoint/2010/main" val="1510816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70CAAC6-D332-4623-987D-67F780320385}" type="datetimeFigureOut">
              <a:rPr lang="en-US" smtClean="0"/>
              <a:t>5/29/26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DE53010-30CC-4218-B439-1D888A1189FA}" type="slidenum">
              <a:rPr lang="en-US" smtClean="0"/>
              <a:t>‹#›</a:t>
            </a:fld>
            <a:endParaRPr lang="en-US"/>
          </a:p>
        </p:txBody>
      </p:sp>
    </p:spTree>
    <p:extLst>
      <p:ext uri="{BB962C8B-B14F-4D97-AF65-F5344CB8AC3E}">
        <p14:creationId xmlns:p14="http://schemas.microsoft.com/office/powerpoint/2010/main" val="934429286"/>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BF854-6054-AA73-7A9A-8B92E2BD3300}"/>
              </a:ext>
            </a:extLst>
          </p:cNvPr>
          <p:cNvSpPr>
            <a:spLocks noGrp="1"/>
          </p:cNvSpPr>
          <p:nvPr>
            <p:ph type="ctrTitle"/>
          </p:nvPr>
        </p:nvSpPr>
        <p:spPr>
          <a:xfrm>
            <a:off x="1524000" y="1619981"/>
            <a:ext cx="7766936" cy="1314328"/>
          </a:xfrm>
        </p:spPr>
        <p:txBody>
          <a:bodyPr anchor="ctr">
            <a:normAutofit/>
          </a:bodyPr>
          <a:lstStyle/>
          <a:p>
            <a:pPr algn="ctr"/>
            <a:r>
              <a:rPr lang="en-US" b="1" dirty="0">
                <a:solidFill>
                  <a:srgbClr val="3E7352"/>
                </a:solidFill>
              </a:rPr>
              <a:t>     </a:t>
            </a:r>
            <a:r>
              <a:rPr lang="en-US" sz="6000" b="1" dirty="0" err="1">
                <a:solidFill>
                  <a:schemeClr val="tx2">
                    <a:lumMod val="75000"/>
                  </a:schemeClr>
                </a:solidFill>
              </a:rPr>
              <a:t>ReelLife</a:t>
            </a:r>
            <a:endParaRPr lang="en-US" sz="6000" b="1" dirty="0">
              <a:solidFill>
                <a:schemeClr val="tx2">
                  <a:lumMod val="75000"/>
                </a:schemeClr>
              </a:solidFill>
            </a:endParaRPr>
          </a:p>
        </p:txBody>
      </p:sp>
      <p:sp>
        <p:nvSpPr>
          <p:cNvPr id="3" name="Subtitle 2">
            <a:extLst>
              <a:ext uri="{FF2B5EF4-FFF2-40B4-BE49-F238E27FC236}">
                <a16:creationId xmlns:a16="http://schemas.microsoft.com/office/drawing/2014/main" id="{9929AA85-1A7B-9CE1-277B-140BB3CD1F4D}"/>
              </a:ext>
            </a:extLst>
          </p:cNvPr>
          <p:cNvSpPr>
            <a:spLocks noGrp="1"/>
          </p:cNvSpPr>
          <p:nvPr>
            <p:ph type="subTitle" idx="1"/>
          </p:nvPr>
        </p:nvSpPr>
        <p:spPr>
          <a:xfrm>
            <a:off x="702130" y="3292929"/>
            <a:ext cx="9525000" cy="1945090"/>
          </a:xfrm>
        </p:spPr>
        <p:txBody>
          <a:bodyPr>
            <a:normAutofit/>
          </a:bodyPr>
          <a:lstStyle/>
          <a:p>
            <a:pPr algn="ctr"/>
            <a:r>
              <a:rPr lang="en-US" sz="2400" dirty="0"/>
              <a:t>An AI-powered Family and Community</a:t>
            </a:r>
          </a:p>
          <a:p>
            <a:pPr algn="ctr"/>
            <a:r>
              <a:rPr lang="en-US" sz="2400" dirty="0"/>
              <a:t> Storytelling Platform</a:t>
            </a:r>
          </a:p>
          <a:p>
            <a:pPr algn="ctr"/>
            <a:endParaRPr lang="en-US" dirty="0"/>
          </a:p>
          <a:p>
            <a:pPr algn="ctr"/>
            <a:r>
              <a:rPr lang="en-US" dirty="0"/>
              <a:t>By Rosie, Jason</a:t>
            </a:r>
          </a:p>
          <a:p>
            <a:endParaRPr lang="en-US" dirty="0"/>
          </a:p>
        </p:txBody>
      </p:sp>
      <p:pic>
        <p:nvPicPr>
          <p:cNvPr id="5" name="Picture 4">
            <a:extLst>
              <a:ext uri="{FF2B5EF4-FFF2-40B4-BE49-F238E27FC236}">
                <a16:creationId xmlns:a16="http://schemas.microsoft.com/office/drawing/2014/main" id="{5E48665D-06E0-F194-6780-E9C17F2E69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33399" y="1479782"/>
            <a:ext cx="1292206" cy="1279054"/>
          </a:xfrm>
          <a:prstGeom prst="rect">
            <a:avLst/>
          </a:prstGeom>
        </p:spPr>
      </p:pic>
    </p:spTree>
    <p:extLst>
      <p:ext uri="{BB962C8B-B14F-4D97-AF65-F5344CB8AC3E}">
        <p14:creationId xmlns:p14="http://schemas.microsoft.com/office/powerpoint/2010/main" val="3286931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82D3-A17F-79F7-783B-30FFEDDD9D6F}"/>
              </a:ext>
            </a:extLst>
          </p:cNvPr>
          <p:cNvSpPr>
            <a:spLocks noGrp="1"/>
          </p:cNvSpPr>
          <p:nvPr>
            <p:ph type="title"/>
          </p:nvPr>
        </p:nvSpPr>
        <p:spPr/>
        <p:txBody>
          <a:bodyPr/>
          <a:lstStyle/>
          <a:p>
            <a:r>
              <a:rPr lang="en-US" b="1" dirty="0">
                <a:solidFill>
                  <a:srgbClr val="3E7352"/>
                </a:solidFill>
              </a:rPr>
              <a:t>INTRODUCTION</a:t>
            </a:r>
          </a:p>
        </p:txBody>
      </p:sp>
      <p:sp>
        <p:nvSpPr>
          <p:cNvPr id="7" name="Content Placeholder 6">
            <a:extLst>
              <a:ext uri="{FF2B5EF4-FFF2-40B4-BE49-F238E27FC236}">
                <a16:creationId xmlns:a16="http://schemas.microsoft.com/office/drawing/2014/main" id="{1361F60A-01EA-B638-C16F-89A42BA3213F}"/>
              </a:ext>
            </a:extLst>
          </p:cNvPr>
          <p:cNvSpPr>
            <a:spLocks noGrp="1"/>
          </p:cNvSpPr>
          <p:nvPr>
            <p:ph idx="1"/>
          </p:nvPr>
        </p:nvSpPr>
        <p:spPr>
          <a:xfrm>
            <a:off x="2266836" y="1445519"/>
            <a:ext cx="9237776" cy="5064790"/>
          </a:xfrm>
        </p:spPr>
        <p:txBody>
          <a:bodyPr>
            <a:noAutofit/>
          </a:bodyPr>
          <a:lstStyle/>
          <a:p>
            <a:pPr marL="0" indent="0">
              <a:buNone/>
            </a:pPr>
            <a:r>
              <a:rPr lang="en-US" sz="1400" dirty="0">
                <a:latin typeface="Arial" panose="020B0604020202020204" pitchFamily="34" charset="0"/>
                <a:cs typeface="Arial" panose="020B0604020202020204" pitchFamily="34" charset="0"/>
              </a:rPr>
              <a:t>Most family stories disappear not because they are unimportant, but because they are never properly recorded in time. </a:t>
            </a:r>
            <a:r>
              <a:rPr lang="en-US" sz="1400" dirty="0" err="1">
                <a:latin typeface="Arial" panose="020B0604020202020204" pitchFamily="34" charset="0"/>
                <a:cs typeface="Arial" panose="020B0604020202020204" pitchFamily="34" charset="0"/>
              </a:rPr>
              <a:t>ReelLife</a:t>
            </a:r>
            <a:r>
              <a:rPr lang="en-US" sz="1400" dirty="0">
                <a:latin typeface="Arial" panose="020B0604020202020204" pitchFamily="34" charset="0"/>
                <a:cs typeface="Arial" panose="020B0604020202020204" pitchFamily="34" charset="0"/>
              </a:rPr>
              <a:t> is an AI-powered storytelling platform that preserves life experiences and makes them accessible across generations and communities. It transforms personal memories into meaningful, structured, meaningful structured narratives that can be explored, shared, and preserved forever. </a:t>
            </a:r>
          </a:p>
          <a:p>
            <a:pPr marL="0" indent="0">
              <a:buNone/>
            </a:pPr>
            <a:r>
              <a:rPr lang="en-US" sz="1400" dirty="0">
                <a:latin typeface="Arial" panose="020B0604020202020204" pitchFamily="34" charset="0"/>
                <a:cs typeface="Arial" panose="020B0604020202020204" pitchFamily="34" charset="0"/>
              </a:rPr>
              <a:t>The AI acts as a documentary-style interviewer, asking natural follow-up questions, organizing fragmented memories, and transforming them into a coherent life narrative. The result is not just raw recordings, but a living family legacy.</a:t>
            </a:r>
          </a:p>
          <a:p>
            <a:pPr marL="0" indent="0">
              <a:buNone/>
            </a:pPr>
            <a:r>
              <a:rPr lang="en-US" sz="1400" dirty="0">
                <a:latin typeface="Arial" panose="020B0604020202020204" pitchFamily="34" charset="0"/>
                <a:cs typeface="Arial" panose="020B0604020202020204" pitchFamily="34" charset="0"/>
              </a:rPr>
              <a:t>Within each family, </a:t>
            </a:r>
            <a:r>
              <a:rPr lang="en-US" sz="1400" dirty="0" err="1">
                <a:latin typeface="Arial" panose="020B0604020202020204" pitchFamily="34" charset="0"/>
                <a:cs typeface="Arial" panose="020B0604020202020204" pitchFamily="34" charset="0"/>
              </a:rPr>
              <a:t>ReelLife</a:t>
            </a:r>
            <a:r>
              <a:rPr lang="en-US" sz="1400" dirty="0">
                <a:latin typeface="Arial" panose="020B0604020202020204" pitchFamily="34" charset="0"/>
                <a:cs typeface="Arial" panose="020B0604020202020204" pitchFamily="34" charset="0"/>
              </a:rPr>
              <a:t> turns conversations into rich, organized outputs, such as life timelines, family trees, and narrative chapters like “Immigrating to America” or “Building Our First Home.” For younger generations, this becomes an interactive way to explore their heritage, making family history into an immersive storytelling experience.</a:t>
            </a:r>
          </a:p>
          <a:p>
            <a:pPr marL="0" indent="0">
              <a:buNone/>
            </a:pPr>
            <a:r>
              <a:rPr lang="en-US" sz="1400" dirty="0">
                <a:latin typeface="Arial" panose="020B0604020202020204" pitchFamily="34" charset="0"/>
                <a:cs typeface="Arial" panose="020B0604020202020204" pitchFamily="34" charset="0"/>
              </a:rPr>
              <a:t>Beyond families, </a:t>
            </a:r>
            <a:r>
              <a:rPr lang="en-US" sz="1400" dirty="0" err="1">
                <a:latin typeface="Arial" panose="020B0604020202020204" pitchFamily="34" charset="0"/>
                <a:cs typeface="Arial" panose="020B0604020202020204" pitchFamily="34" charset="0"/>
              </a:rPr>
              <a:t>ReelLife</a:t>
            </a:r>
            <a:r>
              <a:rPr lang="en-US" sz="1400" dirty="0">
                <a:latin typeface="Arial" panose="020B0604020202020204" pitchFamily="34" charset="0"/>
                <a:cs typeface="Arial" panose="020B0604020202020204" pitchFamily="34" charset="0"/>
              </a:rPr>
              <a:t> also enable a broader community archive of human experience. Users can choose to share their stories publicly or contribute them to curated collections that document important human narratives, including immigration, military service, disaster survival, and local community histories. In some cases, contributors may be supported or compensated, helping ensure that valuable narratives are not lost due to lack of resources or storytelling support.</a:t>
            </a:r>
          </a:p>
          <a:p>
            <a:pPr marL="0" indent="0">
              <a:buNone/>
            </a:pPr>
            <a:r>
              <a:rPr lang="en-US" sz="1400" dirty="0" err="1">
                <a:latin typeface="Arial" panose="020B0604020202020204" pitchFamily="34" charset="0"/>
                <a:cs typeface="Arial" panose="020B0604020202020204" pitchFamily="34" charset="0"/>
              </a:rPr>
              <a:t>ReelLife</a:t>
            </a:r>
            <a:r>
              <a:rPr lang="en-US" sz="1400" dirty="0">
                <a:latin typeface="Arial" panose="020B0604020202020204" pitchFamily="34" charset="0"/>
                <a:cs typeface="Arial" panose="020B0604020202020204" pitchFamily="34" charset="0"/>
              </a:rPr>
              <a:t> bridges the gap between memory and preservation. By combining conversational AI with narrative structuring, it makes storytelling more accessible and more complete—allowing anyone, anywhere, to become the author of their own legacy.</a:t>
            </a:r>
          </a:p>
        </p:txBody>
      </p:sp>
    </p:spTree>
    <p:extLst>
      <p:ext uri="{BB962C8B-B14F-4D97-AF65-F5344CB8AC3E}">
        <p14:creationId xmlns:p14="http://schemas.microsoft.com/office/powerpoint/2010/main" val="3224366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5910-130D-B593-8363-0EA388669019}"/>
              </a:ext>
            </a:extLst>
          </p:cNvPr>
          <p:cNvSpPr>
            <a:spLocks noGrp="1"/>
          </p:cNvSpPr>
          <p:nvPr>
            <p:ph type="title"/>
          </p:nvPr>
        </p:nvSpPr>
        <p:spPr/>
        <p:txBody>
          <a:bodyPr/>
          <a:lstStyle/>
          <a:p>
            <a:r>
              <a:rPr lang="en-US" b="1" dirty="0">
                <a:solidFill>
                  <a:srgbClr val="3E7352"/>
                </a:solidFill>
              </a:rPr>
              <a:t>INSPIRATION</a:t>
            </a:r>
          </a:p>
        </p:txBody>
      </p:sp>
      <p:sp>
        <p:nvSpPr>
          <p:cNvPr id="3" name="Content Placeholder 2">
            <a:extLst>
              <a:ext uri="{FF2B5EF4-FFF2-40B4-BE49-F238E27FC236}">
                <a16:creationId xmlns:a16="http://schemas.microsoft.com/office/drawing/2014/main" id="{5AF16043-58B2-C9B9-60FD-3BCCBFA909EC}"/>
              </a:ext>
            </a:extLst>
          </p:cNvPr>
          <p:cNvSpPr>
            <a:spLocks noGrp="1"/>
          </p:cNvSpPr>
          <p:nvPr>
            <p:ph idx="1"/>
          </p:nvPr>
        </p:nvSpPr>
        <p:spPr>
          <a:xfrm>
            <a:off x="2244259" y="1690089"/>
            <a:ext cx="8915400" cy="3777622"/>
          </a:xfrm>
        </p:spPr>
        <p:txBody>
          <a:bodyPr>
            <a:normAutofit/>
          </a:bodyPr>
          <a:lstStyle/>
          <a:p>
            <a:pPr marL="0" indent="0">
              <a:buNone/>
            </a:pPr>
            <a:r>
              <a:rPr lang="en-US" sz="2000" dirty="0">
                <a:latin typeface="Arial" panose="020B0604020202020204" pitchFamily="34" charset="0"/>
                <a:cs typeface="Arial" panose="020B0604020202020204" pitchFamily="34" charset="0"/>
              </a:rPr>
              <a:t>My interest in memory preservation came from several personal experiences.</a:t>
            </a:r>
          </a:p>
          <a:p>
            <a:pPr lvl="0"/>
            <a:r>
              <a:rPr lang="en-US" sz="2000" dirty="0">
                <a:latin typeface="Arial" panose="020B0604020202020204" pitchFamily="34" charset="0"/>
                <a:cs typeface="Arial" panose="020B0604020202020204" pitchFamily="34" charset="0"/>
              </a:rPr>
              <a:t>Looking through old photos, I realized many childhood memories had already faded.</a:t>
            </a:r>
          </a:p>
          <a:p>
            <a:pPr lvl="0"/>
            <a:r>
              <a:rPr lang="en-US" sz="2000" dirty="0">
                <a:latin typeface="Arial" panose="020B0604020202020204" pitchFamily="34" charset="0"/>
                <a:cs typeface="Arial" panose="020B0604020202020204" pitchFamily="34" charset="0"/>
              </a:rPr>
              <a:t>I’m curious about my family history, but much of it exists only in scattered conversations, and I often struggle to trace my family tree in a clear way.</a:t>
            </a:r>
          </a:p>
          <a:p>
            <a:pPr lvl="0"/>
            <a:r>
              <a:rPr lang="en-US" sz="2000" dirty="0">
                <a:latin typeface="Arial" panose="020B0604020202020204" pitchFamily="34" charset="0"/>
                <a:cs typeface="Arial" panose="020B0604020202020204" pitchFamily="34" charset="0"/>
              </a:rPr>
              <a:t>My grandparents have fascinating life stories, but they do not have confidence or ability to turn them into well-written stories.</a:t>
            </a:r>
          </a:p>
          <a:p>
            <a:pPr marL="0" lvl="0" indent="0">
              <a:buNone/>
            </a:pPr>
            <a:r>
              <a:rPr lang="en-US" sz="2000" dirty="0">
                <a:latin typeface="Arial" panose="020B0604020202020204" pitchFamily="34" charset="0"/>
                <a:cs typeface="Arial" panose="020B0604020202020204" pitchFamily="34" charset="0"/>
              </a:rPr>
              <a:t>These experiences made me wonder: how many important stories are lost simply because people never had an easy way to document them.</a:t>
            </a:r>
          </a:p>
        </p:txBody>
      </p:sp>
    </p:spTree>
    <p:extLst>
      <p:ext uri="{BB962C8B-B14F-4D97-AF65-F5344CB8AC3E}">
        <p14:creationId xmlns:p14="http://schemas.microsoft.com/office/powerpoint/2010/main" val="2616316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1888B-BD1F-6CC9-C674-7C7D5203BB77}"/>
              </a:ext>
            </a:extLst>
          </p:cNvPr>
          <p:cNvSpPr>
            <a:spLocks noGrp="1"/>
          </p:cNvSpPr>
          <p:nvPr>
            <p:ph type="title"/>
          </p:nvPr>
        </p:nvSpPr>
        <p:spPr/>
        <p:txBody>
          <a:bodyPr/>
          <a:lstStyle/>
          <a:p>
            <a:r>
              <a:rPr lang="en-US" b="1" dirty="0">
                <a:solidFill>
                  <a:srgbClr val="3E7352"/>
                </a:solidFill>
              </a:rPr>
              <a:t>PROBLEM</a:t>
            </a:r>
          </a:p>
        </p:txBody>
      </p:sp>
      <p:sp>
        <p:nvSpPr>
          <p:cNvPr id="7" name="Content Placeholder 6">
            <a:extLst>
              <a:ext uri="{FF2B5EF4-FFF2-40B4-BE49-F238E27FC236}">
                <a16:creationId xmlns:a16="http://schemas.microsoft.com/office/drawing/2014/main" id="{475CDF7E-BCC7-6C27-1058-DE7BE35EFF3C}"/>
              </a:ext>
            </a:extLst>
          </p:cNvPr>
          <p:cNvSpPr>
            <a:spLocks noGrp="1"/>
          </p:cNvSpPr>
          <p:nvPr>
            <p:ph idx="1"/>
          </p:nvPr>
        </p:nvSpPr>
        <p:spPr>
          <a:xfrm>
            <a:off x="2294213" y="1680963"/>
            <a:ext cx="9150169" cy="4219308"/>
          </a:xfrm>
        </p:spPr>
        <p:txBody>
          <a:bodyPr>
            <a:normAutofit lnSpcReduction="10000"/>
          </a:bodyPr>
          <a:lstStyle/>
          <a:p>
            <a:pPr marL="0" lvl="0" indent="0">
              <a:buNone/>
            </a:pPr>
            <a:r>
              <a:rPr lang="en-US" dirty="0">
                <a:latin typeface="Arial" panose="020B0604020202020204" pitchFamily="34" charset="0"/>
                <a:cs typeface="Arial" panose="020B0604020202020204" pitchFamily="34" charset="0"/>
              </a:rPr>
              <a:t>After investigating, I realized it is a common challenge faced by many families and communities.</a:t>
            </a:r>
          </a:p>
          <a:p>
            <a:pPr lvl="0"/>
            <a:r>
              <a:rPr lang="en-US" dirty="0">
                <a:latin typeface="Arial" panose="020B0604020202020204" pitchFamily="34" charset="0"/>
                <a:cs typeface="Arial" panose="020B0604020202020204" pitchFamily="34" charset="0"/>
              </a:rPr>
              <a:t>Important family stories are lost because they are not recorded in time.</a:t>
            </a:r>
          </a:p>
          <a:p>
            <a:pPr lvl="0"/>
            <a:r>
              <a:rPr lang="en-US" dirty="0">
                <a:latin typeface="Arial" panose="020B0604020202020204" pitchFamily="34" charset="0"/>
                <a:cs typeface="Arial" panose="020B0604020202020204" pitchFamily="34" charset="0"/>
              </a:rPr>
              <a:t>Older generations may have rich life experiences but lack the tools to document them.</a:t>
            </a:r>
          </a:p>
          <a:p>
            <a:pPr lvl="0"/>
            <a:r>
              <a:rPr lang="en-US" dirty="0">
                <a:latin typeface="Arial" panose="020B0604020202020204" pitchFamily="34" charset="0"/>
                <a:cs typeface="Arial" panose="020B0604020202020204" pitchFamily="34" charset="0"/>
              </a:rPr>
              <a:t>Younger generations often don’t know what questions to ask to uncover meaningful stories.</a:t>
            </a:r>
          </a:p>
          <a:p>
            <a:pPr lvl="0"/>
            <a:r>
              <a:rPr lang="en-US" dirty="0">
                <a:latin typeface="Arial" panose="020B0604020202020204" pitchFamily="34" charset="0"/>
                <a:cs typeface="Arial" panose="020B0604020202020204" pitchFamily="34" charset="0"/>
              </a:rPr>
              <a:t>There is no accessible system to capture community-level stories at scale. Professional interviews or documentation are expensive.</a:t>
            </a:r>
          </a:p>
          <a:p>
            <a:pPr lvl="0"/>
            <a:r>
              <a:rPr lang="en-US" dirty="0">
                <a:latin typeface="Arial" panose="020B0604020202020204" pitchFamily="34" charset="0"/>
                <a:cs typeface="Arial" panose="020B0604020202020204" pitchFamily="34" charset="0"/>
              </a:rPr>
              <a:t>Many people are willing to share their stories, but lack the guidance, recognition, or incentives to do so.</a:t>
            </a:r>
          </a:p>
          <a:p>
            <a:pPr marL="0" lvl="0" indent="0">
              <a:buNone/>
            </a:pPr>
            <a:r>
              <a:rPr lang="en-US" dirty="0">
                <a:latin typeface="Arial" panose="020B0604020202020204" pitchFamily="34" charset="0"/>
                <a:cs typeface="Arial" panose="020B0604020202020204" pitchFamily="34" charset="0"/>
              </a:rPr>
              <a:t>As a result, both personal family memory and broader cultural history are gradually disappearing.</a:t>
            </a:r>
          </a:p>
        </p:txBody>
      </p:sp>
    </p:spTree>
    <p:extLst>
      <p:ext uri="{BB962C8B-B14F-4D97-AF65-F5344CB8AC3E}">
        <p14:creationId xmlns:p14="http://schemas.microsoft.com/office/powerpoint/2010/main" val="3057215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41E1-A4B1-F6F2-A61D-C33A07E162C8}"/>
              </a:ext>
            </a:extLst>
          </p:cNvPr>
          <p:cNvSpPr>
            <a:spLocks noGrp="1"/>
          </p:cNvSpPr>
          <p:nvPr>
            <p:ph type="title"/>
          </p:nvPr>
        </p:nvSpPr>
        <p:spPr/>
        <p:txBody>
          <a:bodyPr/>
          <a:lstStyle/>
          <a:p>
            <a:r>
              <a:rPr lang="en-US" b="1" dirty="0">
                <a:solidFill>
                  <a:srgbClr val="3E7352"/>
                </a:solidFill>
              </a:rPr>
              <a:t>APP FEATURE MAP</a:t>
            </a:r>
          </a:p>
        </p:txBody>
      </p:sp>
      <p:sp>
        <p:nvSpPr>
          <p:cNvPr id="3" name="Content Placeholder 2">
            <a:extLst>
              <a:ext uri="{FF2B5EF4-FFF2-40B4-BE49-F238E27FC236}">
                <a16:creationId xmlns:a16="http://schemas.microsoft.com/office/drawing/2014/main" id="{CAFC0C26-5DEB-15DE-7346-2A55ACC5C1B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42266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CAFEB-1F10-AA6D-9082-50D349C3744B}"/>
              </a:ext>
            </a:extLst>
          </p:cNvPr>
          <p:cNvSpPr>
            <a:spLocks noGrp="1"/>
          </p:cNvSpPr>
          <p:nvPr>
            <p:ph type="title"/>
          </p:nvPr>
        </p:nvSpPr>
        <p:spPr/>
        <p:txBody>
          <a:bodyPr/>
          <a:lstStyle/>
          <a:p>
            <a:r>
              <a:rPr lang="en-US" b="1" dirty="0">
                <a:solidFill>
                  <a:srgbClr val="3E7352"/>
                </a:solidFill>
              </a:rPr>
              <a:t>FUNCTIONALITIES</a:t>
            </a:r>
          </a:p>
        </p:txBody>
      </p:sp>
      <p:sp>
        <p:nvSpPr>
          <p:cNvPr id="3" name="Content Placeholder 2">
            <a:extLst>
              <a:ext uri="{FF2B5EF4-FFF2-40B4-BE49-F238E27FC236}">
                <a16:creationId xmlns:a16="http://schemas.microsoft.com/office/drawing/2014/main" id="{8CD8DC12-EF2F-6B65-02B6-EFD3E5632C6C}"/>
              </a:ext>
            </a:extLst>
          </p:cNvPr>
          <p:cNvSpPr>
            <a:spLocks noGrp="1"/>
          </p:cNvSpPr>
          <p:nvPr>
            <p:ph idx="1"/>
          </p:nvPr>
        </p:nvSpPr>
        <p:spPr>
          <a:xfrm>
            <a:off x="2133804" y="1487110"/>
            <a:ext cx="8596668" cy="3637912"/>
          </a:xfrm>
        </p:spPr>
        <p:txBody>
          <a:bodyPr>
            <a:normAutofit lnSpcReduction="10000"/>
          </a:bodyPr>
          <a:lstStyle/>
          <a:p>
            <a:r>
              <a:rPr lang="en-US" dirty="0"/>
              <a:t>Story Capture</a:t>
            </a:r>
          </a:p>
          <a:p>
            <a:pPr marL="0" indent="0">
              <a:buNone/>
            </a:pPr>
            <a:r>
              <a:rPr lang="en-US" dirty="0"/>
              <a:t>1. AI-guided conversation: supports voice conversation, AI follow-up questions</a:t>
            </a:r>
          </a:p>
          <a:p>
            <a:pPr marL="0" indent="0">
              <a:buNone/>
            </a:pPr>
            <a:r>
              <a:rPr lang="en-US" dirty="0"/>
              <a:t>2. multi-modal input</a:t>
            </a:r>
          </a:p>
          <a:p>
            <a:pPr marL="0" indent="0">
              <a:buNone/>
            </a:pPr>
            <a:r>
              <a:rPr lang="en-US" dirty="0"/>
              <a:t>3. one-click structured content generation: Timeline, family tree, narrative chapters</a:t>
            </a:r>
          </a:p>
          <a:p>
            <a:r>
              <a:rPr lang="en-US" dirty="0"/>
              <a:t>Story Display</a:t>
            </a:r>
          </a:p>
          <a:p>
            <a:pPr marL="0" indent="0">
              <a:buNone/>
            </a:pPr>
            <a:r>
              <a:rPr lang="en-US" dirty="0"/>
              <a:t>1. Private</a:t>
            </a:r>
          </a:p>
          <a:p>
            <a:pPr marL="0" indent="0">
              <a:buNone/>
            </a:pPr>
            <a:r>
              <a:rPr lang="en-US" dirty="0"/>
              <a:t>2. Family circle</a:t>
            </a:r>
          </a:p>
          <a:p>
            <a:pPr marL="0" indent="0">
              <a:buNone/>
            </a:pPr>
            <a:r>
              <a:rPr lang="en-US" dirty="0"/>
              <a:t>3. Community</a:t>
            </a:r>
          </a:p>
        </p:txBody>
      </p:sp>
    </p:spTree>
    <p:extLst>
      <p:ext uri="{BB962C8B-B14F-4D97-AF65-F5344CB8AC3E}">
        <p14:creationId xmlns:p14="http://schemas.microsoft.com/office/powerpoint/2010/main" val="3049815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99100-B2F3-8724-7875-370B78BD8C0E}"/>
              </a:ext>
            </a:extLst>
          </p:cNvPr>
          <p:cNvSpPr>
            <a:spLocks noGrp="1"/>
          </p:cNvSpPr>
          <p:nvPr>
            <p:ph type="title"/>
          </p:nvPr>
        </p:nvSpPr>
        <p:spPr/>
        <p:txBody>
          <a:bodyPr/>
          <a:lstStyle/>
          <a:p>
            <a:r>
              <a:rPr lang="en-US" b="1" dirty="0">
                <a:solidFill>
                  <a:srgbClr val="3E7352"/>
                </a:solidFill>
              </a:rPr>
              <a:t>TECHNOLOGY</a:t>
            </a:r>
          </a:p>
        </p:txBody>
      </p:sp>
      <p:sp>
        <p:nvSpPr>
          <p:cNvPr id="3" name="Content Placeholder 2">
            <a:extLst>
              <a:ext uri="{FF2B5EF4-FFF2-40B4-BE49-F238E27FC236}">
                <a16:creationId xmlns:a16="http://schemas.microsoft.com/office/drawing/2014/main" id="{5966D76B-C7E5-3AFD-6991-4EB77D81171F}"/>
              </a:ext>
            </a:extLst>
          </p:cNvPr>
          <p:cNvSpPr>
            <a:spLocks noGrp="1"/>
          </p:cNvSpPr>
          <p:nvPr>
            <p:ph idx="1"/>
          </p:nvPr>
        </p:nvSpPr>
        <p:spPr>
          <a:xfrm>
            <a:off x="540447" y="1870390"/>
            <a:ext cx="8596668" cy="3880773"/>
          </a:xfrm>
        </p:spPr>
        <p:txBody>
          <a:bodyPr>
            <a:normAutofit/>
          </a:bodyPr>
          <a:lstStyle/>
          <a:p>
            <a:pPr marL="0" indent="0">
              <a:buNone/>
            </a:pPr>
            <a:endParaRPr lang="en-US" dirty="0"/>
          </a:p>
          <a:p>
            <a:pPr marL="0" indent="0">
              <a:buNone/>
            </a:pPr>
            <a:endParaRPr lang="en-US" dirty="0"/>
          </a:p>
        </p:txBody>
      </p:sp>
    </p:spTree>
    <p:extLst>
      <p:ext uri="{BB962C8B-B14F-4D97-AF65-F5344CB8AC3E}">
        <p14:creationId xmlns:p14="http://schemas.microsoft.com/office/powerpoint/2010/main" val="779880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99100-B2F3-8724-7875-370B78BD8C0E}"/>
              </a:ext>
            </a:extLst>
          </p:cNvPr>
          <p:cNvSpPr>
            <a:spLocks noGrp="1"/>
          </p:cNvSpPr>
          <p:nvPr>
            <p:ph type="title"/>
          </p:nvPr>
        </p:nvSpPr>
        <p:spPr/>
        <p:txBody>
          <a:bodyPr/>
          <a:lstStyle/>
          <a:p>
            <a:r>
              <a:rPr lang="en-US" b="1" dirty="0">
                <a:solidFill>
                  <a:srgbClr val="3E7352"/>
                </a:solidFill>
              </a:rPr>
              <a:t>Technical problems</a:t>
            </a:r>
          </a:p>
        </p:txBody>
      </p:sp>
      <p:sp>
        <p:nvSpPr>
          <p:cNvPr id="3" name="Content Placeholder 2">
            <a:extLst>
              <a:ext uri="{FF2B5EF4-FFF2-40B4-BE49-F238E27FC236}">
                <a16:creationId xmlns:a16="http://schemas.microsoft.com/office/drawing/2014/main" id="{5966D76B-C7E5-3AFD-6991-4EB77D81171F}"/>
              </a:ext>
            </a:extLst>
          </p:cNvPr>
          <p:cNvSpPr>
            <a:spLocks noGrp="1"/>
          </p:cNvSpPr>
          <p:nvPr>
            <p:ph idx="1"/>
          </p:nvPr>
        </p:nvSpPr>
        <p:spPr>
          <a:xfrm>
            <a:off x="540447" y="1870390"/>
            <a:ext cx="8596668" cy="3880773"/>
          </a:xfrm>
        </p:spPr>
        <p:txBody>
          <a:bodyPr>
            <a:normAutofit/>
          </a:bodyPr>
          <a:lstStyle/>
          <a:p>
            <a:pPr marL="0" indent="0">
              <a:buNone/>
            </a:pPr>
            <a:endParaRPr lang="en-US" dirty="0"/>
          </a:p>
        </p:txBody>
      </p:sp>
    </p:spTree>
    <p:extLst>
      <p:ext uri="{BB962C8B-B14F-4D97-AF65-F5344CB8AC3E}">
        <p14:creationId xmlns:p14="http://schemas.microsoft.com/office/powerpoint/2010/main" val="412962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FF67C-16C8-BA69-CD5C-9EC24AA7DC3E}"/>
              </a:ext>
            </a:extLst>
          </p:cNvPr>
          <p:cNvSpPr>
            <a:spLocks noGrp="1"/>
          </p:cNvSpPr>
          <p:nvPr>
            <p:ph type="title"/>
          </p:nvPr>
        </p:nvSpPr>
        <p:spPr/>
        <p:txBody>
          <a:bodyPr/>
          <a:lstStyle/>
          <a:p>
            <a:r>
              <a:rPr lang="en-US" b="1" dirty="0">
                <a:solidFill>
                  <a:srgbClr val="3E7352"/>
                </a:solidFill>
              </a:rPr>
              <a:t>APP MAINTENANCE</a:t>
            </a:r>
          </a:p>
        </p:txBody>
      </p:sp>
      <p:sp>
        <p:nvSpPr>
          <p:cNvPr id="3" name="Content Placeholder 2">
            <a:extLst>
              <a:ext uri="{FF2B5EF4-FFF2-40B4-BE49-F238E27FC236}">
                <a16:creationId xmlns:a16="http://schemas.microsoft.com/office/drawing/2014/main" id="{E5BDB5AE-E42C-B16C-4240-428F58F1F35A}"/>
              </a:ext>
            </a:extLst>
          </p:cNvPr>
          <p:cNvSpPr>
            <a:spLocks noGrp="1"/>
          </p:cNvSpPr>
          <p:nvPr>
            <p:ph idx="1"/>
          </p:nvPr>
        </p:nvSpPr>
        <p:spPr>
          <a:xfrm>
            <a:off x="677334" y="2146376"/>
            <a:ext cx="8596668" cy="3591895"/>
          </a:xfrm>
          <a:noFill/>
        </p:spPr>
        <p:txBody>
          <a:bodyPr>
            <a:normAutofit/>
          </a:bodyPr>
          <a:lstStyle/>
          <a:p>
            <a:pPr marL="0" indent="0">
              <a:buNone/>
            </a:pPr>
            <a:r>
              <a:rPr lang="en-US" dirty="0"/>
              <a:t>  </a:t>
            </a:r>
          </a:p>
        </p:txBody>
      </p:sp>
    </p:spTree>
    <p:extLst>
      <p:ext uri="{BB962C8B-B14F-4D97-AF65-F5344CB8AC3E}">
        <p14:creationId xmlns:p14="http://schemas.microsoft.com/office/powerpoint/2010/main" val="349409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58D6-BF53-107C-2A4F-6635831F56B0}"/>
              </a:ext>
            </a:extLst>
          </p:cNvPr>
          <p:cNvSpPr>
            <a:spLocks noGrp="1"/>
          </p:cNvSpPr>
          <p:nvPr>
            <p:ph type="title"/>
          </p:nvPr>
        </p:nvSpPr>
        <p:spPr/>
        <p:txBody>
          <a:bodyPr/>
          <a:lstStyle/>
          <a:p>
            <a:r>
              <a:rPr lang="en-US" b="1" dirty="0">
                <a:solidFill>
                  <a:srgbClr val="3E7352"/>
                </a:solidFill>
              </a:rPr>
              <a:t>FUTURE DEVELOPMENT</a:t>
            </a:r>
          </a:p>
        </p:txBody>
      </p:sp>
      <p:sp>
        <p:nvSpPr>
          <p:cNvPr id="7" name="Content Placeholder 6">
            <a:extLst>
              <a:ext uri="{FF2B5EF4-FFF2-40B4-BE49-F238E27FC236}">
                <a16:creationId xmlns:a16="http://schemas.microsoft.com/office/drawing/2014/main" id="{6B50B443-A5EE-285C-030E-B535C2B589F0}"/>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377209596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12212</TotalTime>
  <Words>570</Words>
  <Application>Microsoft Macintosh PowerPoint</Application>
  <PresentationFormat>Widescreen</PresentationFormat>
  <Paragraphs>41</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Wingdings 3</vt:lpstr>
      <vt:lpstr>Wisp</vt:lpstr>
      <vt:lpstr>     ReelLife</vt:lpstr>
      <vt:lpstr>INTRODUCTION</vt:lpstr>
      <vt:lpstr>INSPIRATION</vt:lpstr>
      <vt:lpstr>PROBLEM</vt:lpstr>
      <vt:lpstr>APP FEATURE MAP</vt:lpstr>
      <vt:lpstr>FUNCTIONALITIES</vt:lpstr>
      <vt:lpstr>TECHNOLOGY</vt:lpstr>
      <vt:lpstr>Technical problems</vt:lpstr>
      <vt:lpstr>APP MAINTENANCE</vt:lpstr>
      <vt:lpstr>FUTURE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VoteAid</dc:title>
  <dc:creator>Raina Zhang</dc:creator>
  <cp:lastModifiedBy>ROSIE BAO</cp:lastModifiedBy>
  <cp:revision>40</cp:revision>
  <dcterms:created xsi:type="dcterms:W3CDTF">2023-10-12T16:37:03Z</dcterms:created>
  <dcterms:modified xsi:type="dcterms:W3CDTF">2026-06-03T09:06:39Z</dcterms:modified>
</cp:coreProperties>
</file>